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77" r:id="rId10"/>
    <p:sldId id="264" r:id="rId11"/>
    <p:sldId id="265" r:id="rId12"/>
    <p:sldId id="266" r:id="rId13"/>
    <p:sldId id="270" r:id="rId14"/>
    <p:sldId id="271" r:id="rId15"/>
    <p:sldId id="276" r:id="rId16"/>
    <p:sldId id="272" r:id="rId17"/>
    <p:sldId id="273" r:id="rId18"/>
    <p:sldId id="275" r:id="rId19"/>
    <p:sldId id="274" r:id="rId20"/>
    <p:sldId id="268" r:id="rId21"/>
  </p:sldIdLst>
  <p:sldSz cx="12192000" cy="6858000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E5E121-D056-4AAE-8019-DFBFA7B7B0E4}" type="datetimeFigureOut">
              <a:rPr lang="es-BO" smtClean="0"/>
              <a:t>15/12/2025</a:t>
            </a:fld>
            <a:endParaRPr lang="es-B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B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96B00B-438C-4DA2-BB82-2873DEF1656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472309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B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96B00B-438C-4DA2-BB82-2873DEF1656E}" type="slidenum">
              <a:rPr lang="es-BO" smtClean="0"/>
              <a:t>2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682716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B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96B00B-438C-4DA2-BB82-2873DEF1656E}" type="slidenum">
              <a:rPr lang="es-BO" smtClean="0"/>
              <a:t>4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586645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B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96B00B-438C-4DA2-BB82-2873DEF1656E}" type="slidenum">
              <a:rPr lang="es-BO" smtClean="0"/>
              <a:t>6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6311824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B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96B00B-438C-4DA2-BB82-2873DEF1656E}" type="slidenum">
              <a:rPr lang="es-BO" smtClean="0"/>
              <a:t>7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3535490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B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96B00B-438C-4DA2-BB82-2873DEF1656E}" type="slidenum">
              <a:rPr lang="es-BO" smtClean="0"/>
              <a:t>8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479781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22B51C5-B58A-4C4A-9F98-67104F9EE7B4}" type="datetimeFigureOut">
              <a:rPr lang="es-BO" smtClean="0"/>
              <a:t>15/12/2025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D925-D639-4523-86E6-E6C7BE68BB62}" type="slidenum">
              <a:rPr lang="es-BO" smtClean="0"/>
              <a:t>‹Nº›</a:t>
            </a:fld>
            <a:endParaRPr lang="es-BO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557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B51C5-B58A-4C4A-9F98-67104F9EE7B4}" type="datetimeFigureOut">
              <a:rPr lang="es-BO" smtClean="0"/>
              <a:t>15/12/2025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D925-D639-4523-86E6-E6C7BE68BB6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162435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B51C5-B58A-4C4A-9F98-67104F9EE7B4}" type="datetimeFigureOut">
              <a:rPr lang="es-BO" smtClean="0"/>
              <a:t>15/12/2025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D925-D639-4523-86E6-E6C7BE68BB62}" type="slidenum">
              <a:rPr lang="es-BO" smtClean="0"/>
              <a:t>‹Nº›</a:t>
            </a:fld>
            <a:endParaRPr lang="es-BO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9538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B51C5-B58A-4C4A-9F98-67104F9EE7B4}" type="datetimeFigureOut">
              <a:rPr lang="es-BO" smtClean="0"/>
              <a:t>15/12/2025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D925-D639-4523-86E6-E6C7BE68BB6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210333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B51C5-B58A-4C4A-9F98-67104F9EE7B4}" type="datetimeFigureOut">
              <a:rPr lang="es-BO" smtClean="0"/>
              <a:t>15/12/2025</a:t>
            </a:fld>
            <a:endParaRPr lang="es-B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D925-D639-4523-86E6-E6C7BE68BB6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12517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B51C5-B58A-4C4A-9F98-67104F9EE7B4}" type="datetimeFigureOut">
              <a:rPr lang="es-BO" smtClean="0"/>
              <a:t>15/12/2025</a:t>
            </a:fld>
            <a:endParaRPr lang="es-B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D925-D639-4523-86E6-E6C7BE68BB6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896267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B51C5-B58A-4C4A-9F98-67104F9EE7B4}" type="datetimeFigureOut">
              <a:rPr lang="es-BO" smtClean="0"/>
              <a:t>15/12/2025</a:t>
            </a:fld>
            <a:endParaRPr lang="es-B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D925-D639-4523-86E6-E6C7BE68BB6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969253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B51C5-B58A-4C4A-9F98-67104F9EE7B4}" type="datetimeFigureOut">
              <a:rPr lang="es-BO" smtClean="0"/>
              <a:t>15/12/2025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D925-D639-4523-86E6-E6C7BE68BB6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695890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B51C5-B58A-4C4A-9F98-67104F9EE7B4}" type="datetimeFigureOut">
              <a:rPr lang="es-BO" smtClean="0"/>
              <a:t>15/12/2025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D925-D639-4523-86E6-E6C7BE68BB62}" type="slidenum">
              <a:rPr lang="es-BO" smtClean="0"/>
              <a:t>‹Nº›</a:t>
            </a:fld>
            <a:endParaRPr lang="es-BO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440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B51C5-B58A-4C4A-9F98-67104F9EE7B4}" type="datetimeFigureOut">
              <a:rPr lang="es-BO" smtClean="0"/>
              <a:t>15/12/2025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D925-D639-4523-86E6-E6C7BE68BB6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761561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B51C5-B58A-4C4A-9F98-67104F9EE7B4}" type="datetimeFigureOut">
              <a:rPr lang="es-BO" smtClean="0"/>
              <a:t>15/12/2025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D925-D639-4523-86E6-E6C7BE68BB62}" type="slidenum">
              <a:rPr lang="es-BO" smtClean="0"/>
              <a:t>‹Nº›</a:t>
            </a:fld>
            <a:endParaRPr lang="es-BO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7136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22B51C5-B58A-4C4A-9F98-67104F9EE7B4}" type="datetimeFigureOut">
              <a:rPr lang="es-BO" smtClean="0"/>
              <a:t>15/12/2025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4CED925-D639-4523-86E6-E6C7BE68BB62}" type="slidenum">
              <a:rPr lang="es-BO" smtClean="0"/>
              <a:t>‹Nº›</a:t>
            </a:fld>
            <a:endParaRPr lang="es-BO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7547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jpe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s-BO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PROYECTO FINAL DE ASIGNATURA</a:t>
            </a:r>
            <a:br>
              <a:rPr lang="es-BO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BO" sz="1800" dirty="0">
                <a:latin typeface="Arial" panose="020B0604020202020204" pitchFamily="34" charset="0"/>
                <a:cs typeface="Arial" panose="020B0604020202020204" pitchFamily="34" charset="0"/>
              </a:rPr>
              <a:t>DESARROLLO DE UN EMULADOR DE ORDENADOR CON UN MICROPROCESADOR BASADO EN LA ARQUITECTURA X86</a:t>
            </a:r>
            <a:r>
              <a:rPr lang="es-BO" dirty="0"/>
              <a:t/>
            </a:r>
            <a:br>
              <a:rPr lang="es-BO" dirty="0"/>
            </a:br>
            <a:endParaRPr lang="es-BO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610599" y="4960137"/>
            <a:ext cx="3472543" cy="1463040"/>
          </a:xfrm>
        </p:spPr>
        <p:txBody>
          <a:bodyPr/>
          <a:lstStyle/>
          <a:p>
            <a:r>
              <a:rPr lang="es-BO" b="1" dirty="0" smtClean="0">
                <a:latin typeface="Arial" panose="020B0604020202020204" pitchFamily="34" charset="0"/>
                <a:cs typeface="Arial" panose="020B0604020202020204" pitchFamily="34" charset="0"/>
              </a:rPr>
              <a:t>Steven Cuellar </a:t>
            </a:r>
            <a:r>
              <a:rPr lang="es-BO" b="1" dirty="0" smtClean="0">
                <a:latin typeface="Arial" panose="020B0604020202020204" pitchFamily="34" charset="0"/>
                <a:cs typeface="Arial" panose="020B0604020202020204" pitchFamily="34" charset="0"/>
              </a:rPr>
              <a:t>Justiniano</a:t>
            </a:r>
          </a:p>
          <a:p>
            <a:r>
              <a:rPr lang="es-BO" b="1" dirty="0" smtClean="0">
                <a:latin typeface="Arial" panose="020B0604020202020204" pitchFamily="34" charset="0"/>
                <a:cs typeface="Arial" panose="020B0604020202020204" pitchFamily="34" charset="0"/>
              </a:rPr>
              <a:t>Diego </a:t>
            </a:r>
            <a:r>
              <a:rPr lang="es-BO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Andres</a:t>
            </a:r>
            <a:r>
              <a:rPr lang="es-BO" b="1" dirty="0" smtClean="0">
                <a:latin typeface="Arial" panose="020B0604020202020204" pitchFamily="34" charset="0"/>
                <a:cs typeface="Arial" panose="020B0604020202020204" pitchFamily="34" charset="0"/>
              </a:rPr>
              <a:t> Heredia </a:t>
            </a:r>
            <a:r>
              <a:rPr lang="es-BO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Ticona</a:t>
            </a:r>
            <a:endParaRPr lang="es-BO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315452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b="1" dirty="0" smtClean="0">
                <a:latin typeface="Arial" panose="020B0604020202020204" pitchFamily="34" charset="0"/>
                <a:cs typeface="Arial" panose="020B0604020202020204" pitchFamily="34" charset="0"/>
              </a:rPr>
              <a:t>Introducción a la arquitectura de computadoras</a:t>
            </a:r>
            <a:endParaRPr lang="es-BO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ítulo 1"/>
          <p:cNvSpPr txBox="1">
            <a:spLocks/>
          </p:cNvSpPr>
          <p:nvPr/>
        </p:nvSpPr>
        <p:spPr>
          <a:xfrm>
            <a:off x="947834" y="3186081"/>
            <a:ext cx="3052665" cy="23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BO" b="1" dirty="0" smtClean="0"/>
              <a:t>Definición: </a:t>
            </a:r>
            <a:r>
              <a:rPr lang="es-BO" dirty="0" smtClean="0"/>
              <a:t>La arquitectura de computadoras se refiere al diseño y organización de los componentes hardware y software que permiten a una computadora operar y seguir instrucciones optimizando al máximo los recursos</a:t>
            </a:r>
            <a:endParaRPr lang="es-BO" dirty="0"/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4357831" y="2971476"/>
            <a:ext cx="3052665" cy="23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BO" b="1" dirty="0" smtClean="0"/>
              <a:t>Importancia: </a:t>
            </a:r>
            <a:r>
              <a:rPr lang="es-BO" dirty="0" smtClean="0"/>
              <a:t>La arquitectura de computadoras es fundamental ya que permite la ejecución de operaciones complejas y grandes volúmenes </a:t>
            </a:r>
            <a:r>
              <a:rPr lang="es-BO" dirty="0"/>
              <a:t>d</a:t>
            </a:r>
            <a:r>
              <a:rPr lang="es-BO" dirty="0" smtClean="0"/>
              <a:t>e datos importantes para el desarrollo de tecnologías mas avanzadas como la IA.</a:t>
            </a:r>
            <a:endParaRPr lang="es-BO" dirty="0"/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8109857" y="3123345"/>
            <a:ext cx="3052665" cy="23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BO" b="1" dirty="0" smtClean="0"/>
              <a:t>Objetivos: </a:t>
            </a:r>
            <a:r>
              <a:rPr lang="es-BO" dirty="0" smtClean="0"/>
              <a:t>Explorar los modelos de Von </a:t>
            </a:r>
            <a:r>
              <a:rPr lang="es-BO" dirty="0" err="1" smtClean="0"/>
              <a:t>Neumman</a:t>
            </a:r>
            <a:r>
              <a:rPr lang="es-BO" dirty="0" smtClean="0"/>
              <a:t> y Harvard, así como presentar un simulador interactivo que ilustre estos conceptos, permitiendo una compresión más profunda de la arquitectura de computadoras</a:t>
            </a:r>
            <a:endParaRPr lang="es-BO" dirty="0"/>
          </a:p>
        </p:txBody>
      </p:sp>
      <p:pic>
        <p:nvPicPr>
          <p:cNvPr id="1026" name="Picture 2" descr="pantalla de computadora, caricatura, aislado, fondo blanco 2519122 Vector  en Vecteez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742" y="2232146"/>
            <a:ext cx="1036820" cy="898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ágenes de Foco ilustracion - Descarga gratuita en Freepik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5207" y="2172172"/>
            <a:ext cx="597511" cy="951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Bandera triangular - Emoji vectoriales gratis en creazilla.com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0728" y="2100555"/>
            <a:ext cx="870921" cy="870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8802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987490" y="2867154"/>
            <a:ext cx="3192624" cy="24122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BO" b="1" dirty="0" smtClean="0"/>
              <a:t>Historia de la arquitectura de computadoras: </a:t>
            </a:r>
            <a:r>
              <a:rPr lang="es-BO" dirty="0" smtClean="0"/>
              <a:t>La historia de la arquitectura de computadoras se remonta a la década de los 80s, con la creación el ENIAC, una de las primeras computadoras electrónicas. Este desarrollo marcó el inicio de una era de innovación tecnológica que ha llevado a la creación de sistemas cada vez mas complejos</a:t>
            </a:r>
            <a:endParaRPr lang="es-BO" dirty="0"/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4388859" y="2719549"/>
            <a:ext cx="3052665" cy="23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BO" b="1" dirty="0" smtClean="0"/>
              <a:t>Modelo de Von </a:t>
            </a:r>
            <a:r>
              <a:rPr lang="es-BO" b="1" dirty="0" err="1" smtClean="0"/>
              <a:t>Neumman</a:t>
            </a:r>
            <a:r>
              <a:rPr lang="es-BO" b="1" dirty="0" smtClean="0"/>
              <a:t>: </a:t>
            </a:r>
            <a:r>
              <a:rPr lang="es-BO" dirty="0" smtClean="0"/>
              <a:t>El modelo de Von </a:t>
            </a:r>
            <a:r>
              <a:rPr lang="es-BO" dirty="0" err="1" smtClean="0"/>
              <a:t>Neumman</a:t>
            </a:r>
            <a:r>
              <a:rPr lang="es-BO" dirty="0" smtClean="0"/>
              <a:t> propone una arquitectura con una memoria física unificada que almacena tanto instrucciones como datos, Este enfoque ha influido en la mayoría de </a:t>
            </a:r>
            <a:r>
              <a:rPr lang="es-BO" dirty="0" err="1" smtClean="0"/>
              <a:t>computaroas</a:t>
            </a:r>
            <a:r>
              <a:rPr lang="es-BO" dirty="0" smtClean="0"/>
              <a:t> modernas, permitiendo un diseño mas simple y eficiente.</a:t>
            </a:r>
            <a:endParaRPr lang="es-BO" dirty="0"/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8019492" y="2719548"/>
            <a:ext cx="3052665" cy="23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BO" b="1" dirty="0" smtClean="0"/>
              <a:t>Modelo Harvard: </a:t>
            </a:r>
            <a:r>
              <a:rPr lang="es-BO" dirty="0" smtClean="0"/>
              <a:t>A diferencia del modelo de Von </a:t>
            </a:r>
            <a:r>
              <a:rPr lang="es-BO" dirty="0" err="1" smtClean="0"/>
              <a:t>Neumman</a:t>
            </a:r>
            <a:r>
              <a:rPr lang="es-BO" dirty="0" smtClean="0"/>
              <a:t>, el modelo Harvard utiliza memorias separadas para instrucciones y datos, lo que permite un acceso más rápido y eficiente. Este modelo es común en microcontroladores y sistemas de procesamiento digital de señales.</a:t>
            </a:r>
            <a:endParaRPr lang="es-BO" dirty="0"/>
          </a:p>
        </p:txBody>
      </p:sp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dirty="0" smtClean="0">
                <a:latin typeface="Arial" panose="020B0604020202020204" pitchFamily="34" charset="0"/>
                <a:cs typeface="Arial" panose="020B0604020202020204" pitchFamily="34" charset="0"/>
              </a:rPr>
              <a:t>Marco teórico: Conceptos clave</a:t>
            </a:r>
            <a:r>
              <a:rPr lang="es-BO" dirty="0" smtClean="0"/>
              <a:t/>
            </a:r>
            <a:br>
              <a:rPr lang="es-BO" dirty="0" smtClean="0"/>
            </a:br>
            <a:r>
              <a:rPr lang="es-BO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Historia y Modelos de Arquitectura</a:t>
            </a:r>
            <a:endParaRPr lang="es-B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4" name="Picture 6" descr="Diseño PNG Y SVG De Icono De Reloj Temporizador De Recarga Para Camiseta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644" y="2209718"/>
            <a:ext cx="509830" cy="509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3d Code Icon Isolated on White. Render Python or Java Api Symbols. Computer  Programming Language. Web Development HTML Code Interface. Coding Tag.  Vector Illustration 35865793 Vector Art at Vecteez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9231" y="1996233"/>
            <a:ext cx="724046" cy="724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119.900+ Microchip Ilustraciones de Stock, gráficos vectoriales libres de  derechos y clip art - iStock | Tecnologia, Internet, Micro chip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1982" y="1996233"/>
            <a:ext cx="927683" cy="927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1232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19707" y="569167"/>
            <a:ext cx="3932237" cy="1600200"/>
          </a:xfrm>
        </p:spPr>
        <p:txBody>
          <a:bodyPr>
            <a:normAutofit fontScale="90000"/>
          </a:bodyPr>
          <a:lstStyle/>
          <a:p>
            <a:r>
              <a:rPr lang="es-BO" b="1" dirty="0" smtClean="0"/>
              <a:t>Modelo de Arquitectura de Von </a:t>
            </a:r>
            <a:r>
              <a:rPr lang="es-BO" b="1" dirty="0" err="1" smtClean="0"/>
              <a:t>Neumman</a:t>
            </a:r>
            <a:r>
              <a:rPr lang="es-BO" b="1" dirty="0" smtClean="0"/>
              <a:t/>
            </a:r>
            <a:br>
              <a:rPr lang="es-BO" b="1" dirty="0" smtClean="0"/>
            </a:br>
            <a:r>
              <a:rPr lang="es-BO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Características: Ventajas y desventajas</a:t>
            </a:r>
            <a:endParaRPr lang="es-BO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Marcador de contenido 4" descr="Arquitectura de Von Neumann - Wikipedia, la enciclopedia libre"/>
          <p:cNvPicPr>
            <a:picLocks noGrp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8396" y="1189654"/>
            <a:ext cx="4680975" cy="431540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91265" y="2416126"/>
            <a:ext cx="4389120" cy="3762294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Tx/>
              <a:buChar char="-"/>
            </a:pPr>
            <a:r>
              <a:rPr lang="es-BO" b="1" dirty="0" smtClean="0"/>
              <a:t>Características del modelo: </a:t>
            </a:r>
            <a:r>
              <a:rPr lang="es-BO" dirty="0" smtClean="0"/>
              <a:t>Este modelo consta de una memoria física unificada que almacena tanto instrucciones como datos, Este enfoque ha influido en la mayoría de computadoras modernas, permitiendo un diseño mas simple y eficiente</a:t>
            </a:r>
          </a:p>
          <a:p>
            <a:pPr marL="285750" indent="-285750">
              <a:buFontTx/>
              <a:buChar char="-"/>
            </a:pPr>
            <a:r>
              <a:rPr lang="es-BO" b="1" dirty="0" smtClean="0"/>
              <a:t>Ventajas: </a:t>
            </a:r>
            <a:r>
              <a:rPr lang="es-BO" dirty="0" smtClean="0"/>
              <a:t>Simplicidad de diseño, que facilita la programación, y su eficiencia en el uso de recursos, permitiendo un desarrollo más ágil de software.</a:t>
            </a:r>
          </a:p>
          <a:p>
            <a:pPr marL="285750" indent="-285750">
              <a:buFontTx/>
              <a:buChar char="-"/>
            </a:pPr>
            <a:r>
              <a:rPr lang="es-BO" b="1" dirty="0" smtClean="0"/>
              <a:t>Desventajas: </a:t>
            </a:r>
            <a:r>
              <a:rPr lang="es-BO" dirty="0" smtClean="0"/>
              <a:t>Este modelo presenta una gran limitante conocido como el cuello de botella de Von </a:t>
            </a:r>
            <a:r>
              <a:rPr lang="es-BO" dirty="0" err="1" smtClean="0"/>
              <a:t>Neumman</a:t>
            </a:r>
            <a:r>
              <a:rPr lang="es-BO" dirty="0" smtClean="0"/>
              <a:t> que limita la velocidad de procesamiento. Esto debido a que solo cuenta con una única memoria y un único bus para instrucciones y datos, lo que al mismo desemboca en menor paralelismo</a:t>
            </a:r>
            <a:endParaRPr lang="es-BO" b="1" dirty="0"/>
          </a:p>
        </p:txBody>
      </p:sp>
    </p:spTree>
    <p:extLst>
      <p:ext uri="{BB962C8B-B14F-4D97-AF65-F5344CB8AC3E}">
        <p14:creationId xmlns:p14="http://schemas.microsoft.com/office/powerpoint/2010/main" val="3167587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24128" y="466530"/>
            <a:ext cx="3932237" cy="1600200"/>
          </a:xfrm>
        </p:spPr>
        <p:txBody>
          <a:bodyPr>
            <a:normAutofit fontScale="90000"/>
          </a:bodyPr>
          <a:lstStyle/>
          <a:p>
            <a:r>
              <a:rPr lang="es-BO" b="1" dirty="0" smtClean="0"/>
              <a:t>Modelo de Arquitectura de Harvard</a:t>
            </a:r>
            <a:br>
              <a:rPr lang="es-BO" b="1" dirty="0" smtClean="0"/>
            </a:br>
            <a:r>
              <a:rPr lang="es-BO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Características: Ventajas y desventajas</a:t>
            </a:r>
            <a:endParaRPr lang="es-BO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95686" y="2238844"/>
            <a:ext cx="4389120" cy="3762294"/>
          </a:xfrm>
        </p:spPr>
        <p:txBody>
          <a:bodyPr>
            <a:normAutofit lnSpcReduction="10000"/>
          </a:bodyPr>
          <a:lstStyle/>
          <a:p>
            <a:pPr marL="285750" indent="-285750">
              <a:buFontTx/>
              <a:buChar char="-"/>
            </a:pPr>
            <a:r>
              <a:rPr lang="es-BO" b="1" dirty="0" smtClean="0"/>
              <a:t>Características del modelo: </a:t>
            </a:r>
            <a:r>
              <a:rPr lang="es-BO" dirty="0" smtClean="0"/>
              <a:t>Este modelo se caracteriza por tener memorias separadas, para instrucciones y datos, lo que permite acceso simultaneo y eficiente, así como buses independientes para cada tipo de memoria.</a:t>
            </a:r>
            <a:endParaRPr lang="es-BO" b="1" dirty="0" smtClean="0"/>
          </a:p>
          <a:p>
            <a:pPr marL="285750" indent="-285750">
              <a:buFontTx/>
              <a:buChar char="-"/>
            </a:pPr>
            <a:r>
              <a:rPr lang="es-BO" b="1" dirty="0" smtClean="0"/>
              <a:t>Ventajas: </a:t>
            </a:r>
            <a:r>
              <a:rPr lang="es-BO" dirty="0" smtClean="0"/>
              <a:t>Las ventajas de este modelo radica en su mayor rendimiento en accesos paralelos y mejor seguridad al separar los datos e instrucciones.</a:t>
            </a:r>
          </a:p>
          <a:p>
            <a:pPr marL="285750" indent="-285750">
              <a:buFontTx/>
              <a:buChar char="-"/>
            </a:pPr>
            <a:r>
              <a:rPr lang="es-BO" b="1" dirty="0" smtClean="0"/>
              <a:t>Desventajas: </a:t>
            </a:r>
            <a:r>
              <a:rPr lang="es-BO" dirty="0" smtClean="0"/>
              <a:t>Sin embargo, el costo de implementación es muy alto, así como menor flexibilidad en la modificación de sus programas lo que puede limitar su aplicabilidad.</a:t>
            </a:r>
            <a:endParaRPr lang="es-BO" b="1" dirty="0"/>
          </a:p>
        </p:txBody>
      </p:sp>
      <p:pic>
        <p:nvPicPr>
          <p:cNvPr id="3074" name="Picture 2" descr="Arquitectura Harvard vrs Arquitectura Von Neumann – Arquitectura De  Computadoras Wilian Barahon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3052" y="2393024"/>
            <a:ext cx="6074230" cy="2458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0503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BO" b="1" dirty="0" smtClean="0">
                <a:latin typeface="Arial" panose="020B0604020202020204" pitchFamily="34" charset="0"/>
                <a:cs typeface="Arial" panose="020B0604020202020204" pitchFamily="34" charset="0"/>
              </a:rPr>
              <a:t>Comparativa entre ambos modelos</a:t>
            </a:r>
            <a:endParaRPr lang="es-BO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ítulo 1"/>
          <p:cNvSpPr txBox="1">
            <a:spLocks/>
          </p:cNvSpPr>
          <p:nvPr/>
        </p:nvSpPr>
        <p:spPr>
          <a:xfrm>
            <a:off x="947834" y="3186081"/>
            <a:ext cx="3052665" cy="23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BO" b="1" dirty="0" smtClean="0"/>
              <a:t>Diferencias en gestión de memoria</a:t>
            </a:r>
            <a:r>
              <a:rPr lang="es-BO" dirty="0" smtClean="0"/>
              <a:t> </a:t>
            </a:r>
          </a:p>
          <a:p>
            <a:endParaRPr lang="es-BO" dirty="0" smtClean="0"/>
          </a:p>
          <a:p>
            <a:r>
              <a:rPr lang="es-BO" dirty="0" smtClean="0"/>
              <a:t>El modelo de Von </a:t>
            </a:r>
            <a:r>
              <a:rPr lang="es-BO" dirty="0" err="1" smtClean="0"/>
              <a:t>Neumman</a:t>
            </a:r>
            <a:r>
              <a:rPr lang="es-BO" dirty="0" smtClean="0"/>
              <a:t> es mas versátil, permitiendo mayor flexibilidad en la programación, mientras que el modelo Harvard es </a:t>
            </a:r>
            <a:r>
              <a:rPr lang="es-BO" dirty="0" err="1" smtClean="0"/>
              <a:t>ma</a:t>
            </a:r>
            <a:r>
              <a:rPr lang="es-BO" dirty="0" smtClean="0"/>
              <a:t> eficiente y rápido debido a su acceso en paralelo de las memorias</a:t>
            </a:r>
            <a:endParaRPr lang="es-BO" dirty="0"/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4357831" y="3186080"/>
            <a:ext cx="3052665" cy="23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BO" b="1" dirty="0" smtClean="0"/>
              <a:t>Aplicaciones típicas</a:t>
            </a:r>
          </a:p>
          <a:p>
            <a:endParaRPr lang="es-BO" b="1" dirty="0" smtClean="0"/>
          </a:p>
          <a:p>
            <a:r>
              <a:rPr lang="es-BO" dirty="0" smtClean="0"/>
              <a:t>Las computadoras de propósito general suelen basarse en el modelo de Von </a:t>
            </a:r>
            <a:r>
              <a:rPr lang="es-BO" dirty="0" err="1" smtClean="0"/>
              <a:t>Neumman</a:t>
            </a:r>
            <a:r>
              <a:rPr lang="es-BO" dirty="0" smtClean="0"/>
              <a:t>, mientras que el de Harvard es mas común en sistemas embebidos, donde la eficiencia y el rendimiento son críticos</a:t>
            </a:r>
            <a:endParaRPr lang="es-BO" dirty="0"/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8109857" y="3123345"/>
            <a:ext cx="3052665" cy="23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BO" b="1" dirty="0" smtClean="0"/>
              <a:t>Tendencias actuales </a:t>
            </a:r>
          </a:p>
          <a:p>
            <a:endParaRPr lang="es-BO" b="1" dirty="0" smtClean="0"/>
          </a:p>
          <a:p>
            <a:r>
              <a:rPr lang="es-BO" dirty="0" smtClean="0"/>
              <a:t>En la actualidad, muchas arquitecturas modernas son híbridas, combinando elementos de ambos modelos para aprovechar sus respectivas ventajas y adaptarse a las demandas cambiantes de la </a:t>
            </a:r>
            <a:r>
              <a:rPr lang="es-BO" dirty="0" err="1" smtClean="0"/>
              <a:t>tegnología</a:t>
            </a:r>
            <a:r>
              <a:rPr lang="es-BO" dirty="0" smtClean="0"/>
              <a:t>.</a:t>
            </a:r>
            <a:endParaRPr lang="es-BO" dirty="0"/>
          </a:p>
        </p:txBody>
      </p:sp>
      <p:pic>
        <p:nvPicPr>
          <p:cNvPr id="4098" name="Picture 2" descr="cambiar el ícono. estilo plano sencillo. flecha bidireccional, intercambio,  marcha atrás, intercambio, línea azul doble, concepto de 2 lados.  ilustración vectorial aislado sobre fondo blanco. eps 10. 16211542 Vector  en Vecteez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3363" y="2420892"/>
            <a:ext cx="842944" cy="70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pantalla de computadora, caricatura, aislado, fondo blanco 2519122 Vector  en Vecteezy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7343" y="2287686"/>
            <a:ext cx="1036820" cy="898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cono Vectorial De La Barra De Señal De Red En Estilo De Diseño Moderno  Para Sitio Web Y Aplicación Móvil Ilustración del Vector - Ilustración de  fuerza, conectividad: 16978700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9869" y="2347025"/>
            <a:ext cx="776320" cy="776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748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b="1" dirty="0" smtClean="0">
                <a:latin typeface="Arial" panose="020B0604020202020204" pitchFamily="34" charset="0"/>
                <a:cs typeface="Arial" panose="020B0604020202020204" pitchFamily="34" charset="0"/>
              </a:rPr>
              <a:t>Componentes comunes en arquitecturas X86</a:t>
            </a:r>
            <a:br>
              <a:rPr lang="es-BO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BO" sz="3100" dirty="0" smtClean="0">
                <a:latin typeface="Arial" panose="020B0604020202020204" pitchFamily="34" charset="0"/>
                <a:cs typeface="Arial" panose="020B0604020202020204" pitchFamily="34" charset="0"/>
              </a:rPr>
              <a:t>Evolución y funcionalidades</a:t>
            </a:r>
            <a:endParaRPr lang="es-BO" sz="3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ítulo 1"/>
          <p:cNvSpPr txBox="1">
            <a:spLocks/>
          </p:cNvSpPr>
          <p:nvPr/>
        </p:nvSpPr>
        <p:spPr>
          <a:xfrm>
            <a:off x="947834" y="3186081"/>
            <a:ext cx="3052665" cy="23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BO" b="1" dirty="0" smtClean="0"/>
              <a:t>Evolución de x86</a:t>
            </a:r>
          </a:p>
          <a:p>
            <a:endParaRPr lang="es-BO" dirty="0" smtClean="0"/>
          </a:p>
          <a:p>
            <a:r>
              <a:rPr lang="es-BO" dirty="0" smtClean="0"/>
              <a:t>La arquitectura x86 se basa en el modelo de Von </a:t>
            </a:r>
            <a:r>
              <a:rPr lang="es-BO" dirty="0" err="1" smtClean="0"/>
              <a:t>Neumman</a:t>
            </a:r>
            <a:r>
              <a:rPr lang="es-BO" dirty="0" smtClean="0"/>
              <a:t> y ha evolucionado para incorporar extensiones modernas, que permiten una mayor complejidad en las instrucciones y un mejor rendimiento</a:t>
            </a:r>
            <a:endParaRPr lang="es-BO" dirty="0"/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4357830" y="2990137"/>
            <a:ext cx="3052665" cy="2897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BO" b="1" dirty="0" smtClean="0"/>
              <a:t>Componentes Clave</a:t>
            </a:r>
          </a:p>
          <a:p>
            <a:endParaRPr lang="es-BO" b="1" dirty="0" smtClean="0"/>
          </a:p>
          <a:p>
            <a:r>
              <a:rPr lang="es-BO" dirty="0" smtClean="0"/>
              <a:t>Los componentes fundamentales de las arquitecturas x86 incluyen CPU, registros, ALU, RAM y sistemas de memorias avanzados como memoria virtual y memorias caché, que trabajan en conjunto para ejecutar las instrucciones de manera eficiente</a:t>
            </a:r>
            <a:endParaRPr lang="es-BO" dirty="0"/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8109858" y="3123345"/>
            <a:ext cx="2974910" cy="23723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BO" b="1" dirty="0" smtClean="0"/>
              <a:t>Funcionalidades </a:t>
            </a:r>
          </a:p>
          <a:p>
            <a:endParaRPr lang="es-BO" b="1" dirty="0" smtClean="0"/>
          </a:p>
          <a:p>
            <a:r>
              <a:rPr lang="es-BO" dirty="0" smtClean="0"/>
              <a:t>Entre las funcionalidades destacadas de la arquitectura x86 se encuentra el </a:t>
            </a:r>
            <a:r>
              <a:rPr lang="es-BO" dirty="0" err="1" smtClean="0"/>
              <a:t>pipelining</a:t>
            </a:r>
            <a:r>
              <a:rPr lang="es-BO" dirty="0" smtClean="0"/>
              <a:t>, la ejecución fuera de orden y el soporte para memoria virtual, que mejoran significativamente el rendimiento del sistema</a:t>
            </a:r>
            <a:endParaRPr lang="es-BO" dirty="0"/>
          </a:p>
        </p:txBody>
      </p:sp>
      <p:pic>
        <p:nvPicPr>
          <p:cNvPr id="5122" name="Picture 2" descr="6.700+ Engranes Ilustraciones de Stock, gráficos vectoriales libres de  derechos y clip art - iStock | Trabajo en equipo, Rompecabezas, Reloj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0220" y="2329114"/>
            <a:ext cx="980574" cy="78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2" descr="Rom memory: Más de 2,733 ilustraciones y dibujos de stock con licencia  libres de regalías | Shutterstock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2" t="28035" r="29422" b="29983"/>
          <a:stretch/>
        </p:blipFill>
        <p:spPr bwMode="auto">
          <a:xfrm>
            <a:off x="5064711" y="2481217"/>
            <a:ext cx="726834" cy="714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Flecha apuntando hacia arriba - Iconos gratis de flecha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104" y="2597640"/>
            <a:ext cx="523495" cy="523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8068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BO" b="1" dirty="0" smtClean="0">
                <a:latin typeface="Arial" panose="020B0604020202020204" pitchFamily="34" charset="0"/>
                <a:cs typeface="Arial" panose="020B0604020202020204" pitchFamily="34" charset="0"/>
              </a:rPr>
              <a:t>MEMORIAS</a:t>
            </a:r>
            <a:endParaRPr lang="es-BO" sz="3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ítulo 1"/>
          <p:cNvSpPr txBox="1">
            <a:spLocks/>
          </p:cNvSpPr>
          <p:nvPr/>
        </p:nvSpPr>
        <p:spPr>
          <a:xfrm>
            <a:off x="947834" y="3186081"/>
            <a:ext cx="3052665" cy="23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BO" b="1" dirty="0" smtClean="0"/>
              <a:t>CACHÉS</a:t>
            </a:r>
            <a:endParaRPr lang="es-BO" b="1" dirty="0" smtClean="0"/>
          </a:p>
          <a:p>
            <a:r>
              <a:rPr lang="es-BO" dirty="0" smtClean="0"/>
              <a:t>Jerarquía: </a:t>
            </a:r>
          </a:p>
          <a:p>
            <a:r>
              <a:rPr lang="es-BO" dirty="0"/>
              <a:t>-</a:t>
            </a:r>
            <a:r>
              <a:rPr lang="es-BO" dirty="0" smtClean="0"/>
              <a:t>Registros </a:t>
            </a:r>
            <a:r>
              <a:rPr lang="es-BO" dirty="0"/>
              <a:t>ultra </a:t>
            </a:r>
            <a:r>
              <a:rPr lang="es-BO" dirty="0" smtClean="0"/>
              <a:t>rápidos</a:t>
            </a:r>
            <a:endParaRPr lang="es-BO" dirty="0" smtClean="0"/>
          </a:p>
          <a:p>
            <a:r>
              <a:rPr lang="es-BO" dirty="0" smtClean="0"/>
              <a:t>-Dentro </a:t>
            </a:r>
            <a:r>
              <a:rPr lang="es-BO" dirty="0"/>
              <a:t>de la </a:t>
            </a:r>
            <a:r>
              <a:rPr lang="es-BO" dirty="0" err="1"/>
              <a:t>CPU.Caché</a:t>
            </a:r>
            <a:r>
              <a:rPr lang="es-BO" dirty="0"/>
              <a:t> L1, L2, L3 </a:t>
            </a:r>
            <a:r>
              <a:rPr lang="es-BO" dirty="0" smtClean="0"/>
              <a:t>velocidad </a:t>
            </a:r>
            <a:r>
              <a:rPr lang="es-BO" dirty="0"/>
              <a:t>alta, tamaño moderado</a:t>
            </a:r>
            <a:r>
              <a:rPr lang="es-BO" dirty="0" smtClean="0"/>
              <a:t>.</a:t>
            </a:r>
          </a:p>
          <a:p>
            <a:r>
              <a:rPr lang="es-BO" dirty="0"/>
              <a:t>-</a:t>
            </a:r>
            <a:r>
              <a:rPr lang="es-BO" dirty="0" smtClean="0"/>
              <a:t>RAM  </a:t>
            </a:r>
            <a:r>
              <a:rPr lang="es-BO" dirty="0"/>
              <a:t>más lenta, más grande</a:t>
            </a:r>
            <a:r>
              <a:rPr lang="es-BO" dirty="0" smtClean="0"/>
              <a:t>.</a:t>
            </a:r>
          </a:p>
          <a:p>
            <a:r>
              <a:rPr lang="es-BO" dirty="0" smtClean="0"/>
              <a:t>Disco </a:t>
            </a:r>
            <a:r>
              <a:rPr lang="es-BO" dirty="0"/>
              <a:t>/ </a:t>
            </a:r>
            <a:r>
              <a:rPr lang="es-BO" dirty="0" smtClean="0"/>
              <a:t>Swap </a:t>
            </a:r>
            <a:r>
              <a:rPr lang="es-BO" dirty="0"/>
              <a:t>muy lento, mucho espacio</a:t>
            </a:r>
            <a:r>
              <a:rPr lang="es-BO" dirty="0" smtClean="0"/>
              <a:t>.</a:t>
            </a:r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4357830" y="2990137"/>
            <a:ext cx="3052665" cy="2897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BO" b="1" dirty="0" smtClean="0"/>
              <a:t>MEMORIA VIRTUAL</a:t>
            </a:r>
          </a:p>
          <a:p>
            <a:endParaRPr lang="es-BO" b="1" dirty="0" smtClean="0"/>
          </a:p>
          <a:p>
            <a:r>
              <a:rPr lang="es-BO" dirty="0"/>
              <a:t>Sistema que simula que cada programa tiene su propia memoria continua</a:t>
            </a:r>
            <a:r>
              <a:rPr lang="es-BO" dirty="0" smtClean="0"/>
              <a:t>. Combina </a:t>
            </a:r>
            <a:r>
              <a:rPr lang="es-BO" dirty="0"/>
              <a:t>RAM + disco duro (swap).La MMU traduce direcciones virtuales </a:t>
            </a:r>
            <a:r>
              <a:rPr lang="es-BO" dirty="0" smtClean="0"/>
              <a:t>a físicas</a:t>
            </a:r>
            <a:r>
              <a:rPr lang="es-BO" dirty="0" smtClean="0"/>
              <a:t>.</a:t>
            </a:r>
          </a:p>
          <a:p>
            <a:r>
              <a:rPr lang="es-BO" dirty="0" smtClean="0"/>
              <a:t>Ventaja</a:t>
            </a:r>
            <a:r>
              <a:rPr lang="es-BO" dirty="0"/>
              <a:t>: permite ejecutar programas grandes aunque la RAM sea limitada.</a:t>
            </a:r>
            <a:endParaRPr lang="es-BO" dirty="0" smtClean="0"/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8109858" y="3123345"/>
            <a:ext cx="2974910" cy="23723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BO" b="1" dirty="0" smtClean="0"/>
              <a:t>POLÍTICAS </a:t>
            </a:r>
          </a:p>
          <a:p>
            <a:endParaRPr lang="es-BO" b="1" dirty="0" smtClean="0"/>
          </a:p>
          <a:p>
            <a:r>
              <a:rPr lang="es-BO" dirty="0" smtClean="0"/>
              <a:t>- LRU </a:t>
            </a:r>
            <a:r>
              <a:rPr lang="es-BO" dirty="0"/>
              <a:t>(</a:t>
            </a:r>
            <a:r>
              <a:rPr lang="es-BO" dirty="0" err="1"/>
              <a:t>Least</a:t>
            </a:r>
            <a:r>
              <a:rPr lang="es-BO" dirty="0"/>
              <a:t> </a:t>
            </a:r>
            <a:r>
              <a:rPr lang="es-BO" dirty="0" err="1"/>
              <a:t>Recently</a:t>
            </a:r>
            <a:r>
              <a:rPr lang="es-BO" dirty="0"/>
              <a:t> </a:t>
            </a:r>
            <a:r>
              <a:rPr lang="es-BO" dirty="0" err="1"/>
              <a:t>Used</a:t>
            </a:r>
            <a:r>
              <a:rPr lang="es-BO" dirty="0"/>
              <a:t>): reemplaza el dato menos usado recientemente</a:t>
            </a:r>
            <a:r>
              <a:rPr lang="es-BO" dirty="0" smtClean="0"/>
              <a:t>.</a:t>
            </a:r>
          </a:p>
          <a:p>
            <a:r>
              <a:rPr lang="es-BO" dirty="0" smtClean="0"/>
              <a:t>- FIFO </a:t>
            </a:r>
            <a:r>
              <a:rPr lang="es-BO" dirty="0"/>
              <a:t>(</a:t>
            </a:r>
            <a:r>
              <a:rPr lang="es-BO" dirty="0" err="1"/>
              <a:t>First</a:t>
            </a:r>
            <a:r>
              <a:rPr lang="es-BO" dirty="0"/>
              <a:t> In, </a:t>
            </a:r>
            <a:r>
              <a:rPr lang="es-BO" dirty="0" err="1"/>
              <a:t>First</a:t>
            </a:r>
            <a:r>
              <a:rPr lang="es-BO" dirty="0"/>
              <a:t> </a:t>
            </a:r>
            <a:r>
              <a:rPr lang="es-BO" dirty="0" err="1"/>
              <a:t>Out</a:t>
            </a:r>
            <a:r>
              <a:rPr lang="es-BO" dirty="0"/>
              <a:t>): reemplaza el dato más antiguo</a:t>
            </a:r>
            <a:r>
              <a:rPr lang="es-BO" dirty="0" smtClean="0"/>
              <a:t>.</a:t>
            </a:r>
          </a:p>
          <a:p>
            <a:r>
              <a:rPr lang="es-BO" dirty="0" smtClean="0"/>
              <a:t>- LFU </a:t>
            </a:r>
            <a:r>
              <a:rPr lang="es-BO" dirty="0"/>
              <a:t>(</a:t>
            </a:r>
            <a:r>
              <a:rPr lang="es-BO" dirty="0" err="1"/>
              <a:t>Least</a:t>
            </a:r>
            <a:r>
              <a:rPr lang="es-BO" dirty="0"/>
              <a:t> </a:t>
            </a:r>
            <a:r>
              <a:rPr lang="es-BO" dirty="0" err="1"/>
              <a:t>Frequently</a:t>
            </a:r>
            <a:r>
              <a:rPr lang="es-BO" dirty="0"/>
              <a:t> </a:t>
            </a:r>
            <a:r>
              <a:rPr lang="es-BO" dirty="0" err="1"/>
              <a:t>Used</a:t>
            </a:r>
            <a:r>
              <a:rPr lang="es-BO" dirty="0"/>
              <a:t>): reemplaza el dato menos usado en </a:t>
            </a:r>
            <a:r>
              <a:rPr lang="es-BO" dirty="0" err="1"/>
              <a:t>cantidad.Random</a:t>
            </a:r>
            <a:r>
              <a:rPr lang="es-BO" dirty="0"/>
              <a:t>: reemplaza un dato al azar.</a:t>
            </a:r>
            <a:endParaRPr lang="es-BO" dirty="0" smtClean="0"/>
          </a:p>
        </p:txBody>
      </p:sp>
    </p:spTree>
    <p:extLst>
      <p:ext uri="{BB962C8B-B14F-4D97-AF65-F5344CB8AC3E}">
        <p14:creationId xmlns:p14="http://schemas.microsoft.com/office/powerpoint/2010/main" val="405732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Buffers</a:t>
            </a:r>
            <a:endParaRPr lang="es-BO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BO" dirty="0"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lang="es-BO" i="1" dirty="0">
                <a:latin typeface="Arial" panose="020B0604020202020204" pitchFamily="34" charset="0"/>
                <a:cs typeface="Arial" panose="020B0604020202020204" pitchFamily="34" charset="0"/>
              </a:rPr>
              <a:t>buffer</a:t>
            </a:r>
            <a:r>
              <a:rPr lang="es-BO" dirty="0">
                <a:latin typeface="Arial" panose="020B0604020202020204" pitchFamily="34" charset="0"/>
                <a:cs typeface="Arial" panose="020B0604020202020204" pitchFamily="34" charset="0"/>
              </a:rPr>
              <a:t> permite que el componente rápido (la CPU) envíe o reciba datos en grandes "ráfagas" rápidas y luego se ocupe de otras tareas, mientras que el componente lento toma o entrega los datos a su propio ritmo</a:t>
            </a:r>
            <a:r>
              <a:rPr lang="es-BO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es-BO" b="1" dirty="0" smtClean="0">
                <a:latin typeface="Arial" panose="020B0604020202020204" pitchFamily="34" charset="0"/>
                <a:cs typeface="Arial" panose="020B0604020202020204" pitchFamily="34" charset="0"/>
              </a:rPr>
              <a:t>Buffers de hardware:</a:t>
            </a:r>
            <a:r>
              <a:rPr lang="es-BO" dirty="0" smtClean="0">
                <a:latin typeface="Arial" panose="020B0604020202020204" pitchFamily="34" charset="0"/>
                <a:cs typeface="Arial" panose="020B0604020202020204" pitchFamily="34" charset="0"/>
              </a:rPr>
              <a:t> presentes en discos duros, </a:t>
            </a:r>
            <a:r>
              <a:rPr lang="es-BO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cpu</a:t>
            </a:r>
            <a:r>
              <a:rPr lang="es-BO" dirty="0" smtClean="0">
                <a:latin typeface="Arial" panose="020B0604020202020204" pitchFamily="34" charset="0"/>
                <a:cs typeface="Arial" panose="020B0604020202020204" pitchFamily="34" charset="0"/>
              </a:rPr>
              <a:t>, tarjetas gráficas, controladores e incluso en los dispositivos de salida.</a:t>
            </a:r>
          </a:p>
          <a:p>
            <a:pPr marL="285750" indent="-285750">
              <a:buFontTx/>
              <a:buChar char="-"/>
            </a:pPr>
            <a:r>
              <a:rPr lang="es-BO" b="1" dirty="0" smtClean="0">
                <a:latin typeface="Arial" panose="020B0604020202020204" pitchFamily="34" charset="0"/>
                <a:cs typeface="Arial" panose="020B0604020202020204" pitchFamily="34" charset="0"/>
              </a:rPr>
              <a:t>Buffers de Software:</a:t>
            </a:r>
            <a:r>
              <a:rPr lang="es-BO" dirty="0" smtClean="0">
                <a:latin typeface="Arial" panose="020B0604020202020204" pitchFamily="34" charset="0"/>
                <a:cs typeface="Arial" panose="020B0604020202020204" pitchFamily="34" charset="0"/>
              </a:rPr>
              <a:t> Son áreas de la memoria RAM que son reservadas por el SO.</a:t>
            </a:r>
            <a:endParaRPr lang="es-B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Marcador de contenido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77372" y="2409684"/>
            <a:ext cx="5153744" cy="20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97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84" y="2295330"/>
            <a:ext cx="4339388" cy="2192694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2372" y="1063690"/>
            <a:ext cx="3209077" cy="3526971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73" t="21360" r="10682" b="11701"/>
          <a:stretch/>
        </p:blipFill>
        <p:spPr>
          <a:xfrm>
            <a:off x="7581449" y="0"/>
            <a:ext cx="3340359" cy="4590661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1684502" y="4907902"/>
            <a:ext cx="970384" cy="382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dirty="0" smtClean="0"/>
              <a:t>1 </a:t>
            </a:r>
            <a:endParaRPr lang="es-BO" dirty="0"/>
          </a:p>
        </p:txBody>
      </p:sp>
      <p:sp>
        <p:nvSpPr>
          <p:cNvPr id="9" name="CuadroTexto 8"/>
          <p:cNvSpPr txBox="1"/>
          <p:nvPr/>
        </p:nvSpPr>
        <p:spPr>
          <a:xfrm>
            <a:off x="5346441" y="4907902"/>
            <a:ext cx="164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dirty="0" smtClean="0"/>
              <a:t>2</a:t>
            </a:r>
            <a:endParaRPr lang="es-BO" dirty="0"/>
          </a:p>
        </p:txBody>
      </p:sp>
      <p:sp>
        <p:nvSpPr>
          <p:cNvPr id="10" name="CuadroTexto 9"/>
          <p:cNvSpPr txBox="1"/>
          <p:nvPr/>
        </p:nvSpPr>
        <p:spPr>
          <a:xfrm>
            <a:off x="8808098" y="4907902"/>
            <a:ext cx="1446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dirty="0" smtClean="0"/>
              <a:t>3</a:t>
            </a:r>
            <a:endParaRPr lang="es-BO" dirty="0"/>
          </a:p>
        </p:txBody>
      </p:sp>
      <p:sp>
        <p:nvSpPr>
          <p:cNvPr id="12" name="Rectángulo 11"/>
          <p:cNvSpPr/>
          <p:nvPr/>
        </p:nvSpPr>
        <p:spPr>
          <a:xfrm>
            <a:off x="236971" y="162513"/>
            <a:ext cx="48136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BO" b="1" dirty="0" smtClean="0"/>
              <a:t>Esquematización del flujo de la arquitectura x86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793049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25" t="14830" r="13817" b="2177"/>
          <a:stretch/>
        </p:blipFill>
        <p:spPr>
          <a:xfrm>
            <a:off x="2351315" y="643813"/>
            <a:ext cx="2628173" cy="4516017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3" t="20952" r="2451" b="19319"/>
          <a:stretch/>
        </p:blipFill>
        <p:spPr>
          <a:xfrm>
            <a:off x="6106884" y="1063691"/>
            <a:ext cx="4516017" cy="4096139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3359824" y="5159830"/>
            <a:ext cx="1455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dirty="0" smtClean="0"/>
              <a:t>4</a:t>
            </a:r>
            <a:endParaRPr lang="es-BO" dirty="0"/>
          </a:p>
        </p:txBody>
      </p:sp>
      <p:sp>
        <p:nvSpPr>
          <p:cNvPr id="5" name="CuadroTexto 4"/>
          <p:cNvSpPr txBox="1"/>
          <p:nvPr/>
        </p:nvSpPr>
        <p:spPr>
          <a:xfrm>
            <a:off x="8364892" y="5159830"/>
            <a:ext cx="1427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dirty="0" smtClean="0"/>
              <a:t>5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974040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71" t="18640" r="21501" b="2993"/>
          <a:stretch/>
        </p:blipFill>
        <p:spPr>
          <a:xfrm>
            <a:off x="3237722" y="587828"/>
            <a:ext cx="5691675" cy="537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341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DISPOSITIVOS DE ENTRADA Y SALIDA</a:t>
            </a:r>
            <a:endParaRPr lang="es-BO" dirty="0"/>
          </a:p>
        </p:txBody>
      </p:sp>
      <p:pic>
        <p:nvPicPr>
          <p:cNvPr id="1028" name="Picture 4" descr="Dispositivos de Entrada y Salida | Mi Registro de la We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7477" y="152884"/>
            <a:ext cx="6105266" cy="4584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brir llave 4"/>
          <p:cNvSpPr/>
          <p:nvPr/>
        </p:nvSpPr>
        <p:spPr>
          <a:xfrm>
            <a:off x="3023118" y="1660849"/>
            <a:ext cx="429209" cy="3076536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6" name="Cerrar llave 5"/>
          <p:cNvSpPr/>
          <p:nvPr/>
        </p:nvSpPr>
        <p:spPr>
          <a:xfrm>
            <a:off x="8406882" y="1492898"/>
            <a:ext cx="410547" cy="3244487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7" name="CuadroTexto 6"/>
          <p:cNvSpPr txBox="1"/>
          <p:nvPr/>
        </p:nvSpPr>
        <p:spPr>
          <a:xfrm>
            <a:off x="8817429" y="2791975"/>
            <a:ext cx="1464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BO" dirty="0" smtClean="0"/>
              <a:t>Dispositivos de entrada</a:t>
            </a:r>
            <a:endParaRPr lang="es-BO" dirty="0"/>
          </a:p>
        </p:txBody>
      </p:sp>
      <p:sp>
        <p:nvSpPr>
          <p:cNvPr id="10" name="CuadroTexto 9"/>
          <p:cNvSpPr txBox="1"/>
          <p:nvPr/>
        </p:nvSpPr>
        <p:spPr>
          <a:xfrm>
            <a:off x="1166327" y="3013788"/>
            <a:ext cx="1464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BO" dirty="0" smtClean="0"/>
              <a:t>Dispositivos de salida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956403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Tipos de dispositivos</a:t>
            </a:r>
            <a:endParaRPr lang="es-B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BO" b="1" dirty="0" smtClean="0"/>
              <a:t>ENTRADA</a:t>
            </a:r>
          </a:p>
          <a:p>
            <a:r>
              <a:rPr lang="es-BO" dirty="0" smtClean="0"/>
              <a:t>Los dispositivos de entrada son todos aquellos que permiten introducir datos o instrucciones.</a:t>
            </a:r>
          </a:p>
          <a:p>
            <a:r>
              <a:rPr lang="es-BO" dirty="0" smtClean="0"/>
              <a:t>- Mouse</a:t>
            </a:r>
          </a:p>
          <a:p>
            <a:r>
              <a:rPr lang="es-BO" dirty="0" smtClean="0"/>
              <a:t>- Teclado</a:t>
            </a:r>
          </a:p>
          <a:p>
            <a:r>
              <a:rPr lang="es-BO" dirty="0" smtClean="0"/>
              <a:t>- Escáner</a:t>
            </a:r>
          </a:p>
          <a:p>
            <a:r>
              <a:rPr lang="es-BO" dirty="0" smtClean="0"/>
              <a:t>- Micrófono</a:t>
            </a:r>
            <a:endParaRPr lang="es-BO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BO" b="1" dirty="0" smtClean="0"/>
              <a:t>SALIDA</a:t>
            </a:r>
          </a:p>
          <a:p>
            <a:pPr lvl="0"/>
            <a:r>
              <a:rPr lang="es-BO" dirty="0" smtClean="0"/>
              <a:t>Los dispositivos de salida </a:t>
            </a:r>
            <a:r>
              <a:rPr lang="es-BO" dirty="0"/>
              <a:t>m</a:t>
            </a:r>
            <a:r>
              <a:rPr lang="es-BO" dirty="0" smtClean="0"/>
              <a:t>uestran </a:t>
            </a:r>
            <a:r>
              <a:rPr lang="es-BO" dirty="0"/>
              <a:t>al usuario los resultados del </a:t>
            </a:r>
            <a:r>
              <a:rPr lang="es-BO" dirty="0" smtClean="0"/>
              <a:t>procesamiento de las instrucciones introducidas.</a:t>
            </a:r>
          </a:p>
          <a:p>
            <a:pPr lvl="0"/>
            <a:r>
              <a:rPr lang="es-BO" dirty="0"/>
              <a:t>-</a:t>
            </a:r>
            <a:r>
              <a:rPr lang="es-BO" dirty="0" smtClean="0"/>
              <a:t> Monitor </a:t>
            </a:r>
          </a:p>
          <a:p>
            <a:pPr lvl="0"/>
            <a:r>
              <a:rPr lang="es-BO" dirty="0" smtClean="0"/>
              <a:t>- Impresora </a:t>
            </a:r>
          </a:p>
          <a:p>
            <a:pPr lvl="0"/>
            <a:r>
              <a:rPr lang="es-BO" dirty="0" smtClean="0"/>
              <a:t>- Altavoces</a:t>
            </a:r>
            <a:r>
              <a:rPr lang="es-BO" dirty="0"/>
              <a:t>.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2935085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DRIVERS o controladores</a:t>
            </a:r>
            <a:endParaRPr lang="es-BO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9551" b="28056"/>
          <a:stretch/>
        </p:blipFill>
        <p:spPr>
          <a:xfrm>
            <a:off x="5150498" y="1847460"/>
            <a:ext cx="7041502" cy="2995127"/>
          </a:xfrm>
          <a:prstGeom prst="rect">
            <a:avLst/>
          </a:prstGeom>
        </p:spPr>
      </p:pic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es-BO" dirty="0" smtClean="0"/>
              <a:t>Un driver es el intermediario entre el </a:t>
            </a:r>
            <a:r>
              <a:rPr lang="es-BO" b="1" dirty="0" smtClean="0"/>
              <a:t>hardware </a:t>
            </a:r>
            <a:r>
              <a:rPr lang="es-BO" dirty="0" smtClean="0"/>
              <a:t>y el </a:t>
            </a:r>
            <a:r>
              <a:rPr lang="es-BO" b="1" dirty="0" smtClean="0"/>
              <a:t>software: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BO" b="1" dirty="0" smtClean="0"/>
              <a:t>Comunicación con el dispositivo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BO" b="1" dirty="0" smtClean="0"/>
              <a:t>Gestión de interrupciones y buffers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BO" b="1" dirty="0" smtClean="0"/>
              <a:t>Abstracción del SO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BO" b="1" dirty="0" smtClean="0"/>
              <a:t>Control de errores y sincronización</a:t>
            </a:r>
          </a:p>
          <a:p>
            <a:r>
              <a:rPr lang="es-BO" dirty="0" smtClean="0"/>
              <a:t>Tipos de drivers: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BO" dirty="0" smtClean="0"/>
              <a:t>De entrada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BO" dirty="0" smtClean="0"/>
              <a:t>De salida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BO" dirty="0" smtClean="0"/>
              <a:t>De almacenamiento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BO" dirty="0" smtClean="0"/>
              <a:t>De red</a:t>
            </a:r>
          </a:p>
          <a:p>
            <a:endParaRPr lang="es-BO" b="1" dirty="0"/>
          </a:p>
        </p:txBody>
      </p:sp>
      <p:cxnSp>
        <p:nvCxnSpPr>
          <p:cNvPr id="7" name="Conector recto 6"/>
          <p:cNvCxnSpPr/>
          <p:nvPr/>
        </p:nvCxnSpPr>
        <p:spPr>
          <a:xfrm>
            <a:off x="5234477" y="0"/>
            <a:ext cx="0" cy="68580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665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Flujo típico de un dispositivo de entrada</a:t>
            </a:r>
            <a:endParaRPr lang="es-B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581122" y="197809"/>
            <a:ext cx="2719873" cy="5184648"/>
          </a:xfrm>
        </p:spPr>
        <p:txBody>
          <a:bodyPr>
            <a:normAutofit fontScale="25000" lnSpcReduction="20000"/>
          </a:bodyPr>
          <a:lstStyle/>
          <a:p>
            <a:r>
              <a:rPr lang="es-BO" sz="4800" dirty="0">
                <a:latin typeface="Arial" panose="020B0604020202020204" pitchFamily="34" charset="0"/>
                <a:cs typeface="Arial" panose="020B0604020202020204" pitchFamily="34" charset="0"/>
              </a:rPr>
              <a:t>[ Dispositivo de Entrada ]</a:t>
            </a:r>
          </a:p>
          <a:p>
            <a:r>
              <a:rPr lang="es-BO" sz="4800" dirty="0">
                <a:latin typeface="Arial" panose="020B0604020202020204" pitchFamily="34" charset="0"/>
                <a:cs typeface="Arial" panose="020B0604020202020204" pitchFamily="34" charset="0"/>
              </a:rPr>
              <a:t>          │</a:t>
            </a:r>
          </a:p>
          <a:p>
            <a:r>
              <a:rPr lang="es-BO" sz="4800" dirty="0">
                <a:latin typeface="Arial" panose="020B0604020202020204" pitchFamily="34" charset="0"/>
                <a:cs typeface="Arial" panose="020B0604020202020204" pitchFamily="34" charset="0"/>
              </a:rPr>
              <a:t>          ▼</a:t>
            </a:r>
          </a:p>
          <a:p>
            <a:r>
              <a:rPr lang="es-BO" sz="4800" dirty="0">
                <a:latin typeface="Arial" panose="020B0604020202020204" pitchFamily="34" charset="0"/>
                <a:cs typeface="Arial" panose="020B0604020202020204" pitchFamily="34" charset="0"/>
              </a:rPr>
              <a:t>    (Buffer de Entrada)</a:t>
            </a:r>
          </a:p>
          <a:p>
            <a:r>
              <a:rPr lang="es-BO" sz="4800" dirty="0">
                <a:latin typeface="Arial" panose="020B0604020202020204" pitchFamily="34" charset="0"/>
                <a:cs typeface="Arial" panose="020B0604020202020204" pitchFamily="34" charset="0"/>
              </a:rPr>
              <a:t>          │</a:t>
            </a:r>
          </a:p>
          <a:p>
            <a:r>
              <a:rPr lang="es-BO" sz="4800" dirty="0">
                <a:latin typeface="Arial" panose="020B0604020202020204" pitchFamily="34" charset="0"/>
                <a:cs typeface="Arial" panose="020B0604020202020204" pitchFamily="34" charset="0"/>
              </a:rPr>
              <a:t>          │ Bus de Datos</a:t>
            </a:r>
          </a:p>
          <a:p>
            <a:r>
              <a:rPr lang="es-BO" sz="4800" dirty="0">
                <a:latin typeface="Arial" panose="020B0604020202020204" pitchFamily="34" charset="0"/>
                <a:cs typeface="Arial" panose="020B0604020202020204" pitchFamily="34" charset="0"/>
              </a:rPr>
              <a:t>          ▼</a:t>
            </a:r>
          </a:p>
          <a:p>
            <a:r>
              <a:rPr lang="es-BO" sz="4800" dirty="0">
                <a:latin typeface="Arial" panose="020B0604020202020204" pitchFamily="34" charset="0"/>
                <a:cs typeface="Arial" panose="020B0604020202020204" pitchFamily="34" charset="0"/>
              </a:rPr>
              <a:t>         [ CPU ]</a:t>
            </a:r>
          </a:p>
          <a:p>
            <a:r>
              <a:rPr lang="es-BO" sz="4800" dirty="0">
                <a:latin typeface="Arial" panose="020B0604020202020204" pitchFamily="34" charset="0"/>
                <a:cs typeface="Arial" panose="020B0604020202020204" pitchFamily="34" charset="0"/>
              </a:rPr>
              <a:t>          │</a:t>
            </a:r>
          </a:p>
          <a:p>
            <a:r>
              <a:rPr lang="es-BO" sz="4800" dirty="0">
                <a:latin typeface="Arial" panose="020B0604020202020204" pitchFamily="34" charset="0"/>
                <a:cs typeface="Arial" panose="020B0604020202020204" pitchFamily="34" charset="0"/>
              </a:rPr>
              <a:t>          │ Bus de Control</a:t>
            </a:r>
          </a:p>
          <a:p>
            <a:r>
              <a:rPr lang="es-BO" sz="4800" dirty="0">
                <a:latin typeface="Arial" panose="020B0604020202020204" pitchFamily="34" charset="0"/>
                <a:cs typeface="Arial" panose="020B0604020202020204" pitchFamily="34" charset="0"/>
              </a:rPr>
              <a:t>          │&lt;──── Interrupción</a:t>
            </a:r>
          </a:p>
          <a:p>
            <a:r>
              <a:rPr lang="es-BO" sz="4800" dirty="0">
                <a:latin typeface="Arial" panose="020B0604020202020204" pitchFamily="34" charset="0"/>
                <a:cs typeface="Arial" panose="020B0604020202020204" pitchFamily="34" charset="0"/>
              </a:rPr>
              <a:t>          │</a:t>
            </a:r>
          </a:p>
          <a:p>
            <a:r>
              <a:rPr lang="es-BO" sz="4800" dirty="0">
                <a:latin typeface="Arial" panose="020B0604020202020204" pitchFamily="34" charset="0"/>
                <a:cs typeface="Arial" panose="020B0604020202020204" pitchFamily="34" charset="0"/>
              </a:rPr>
              <a:t>          ▼</a:t>
            </a:r>
          </a:p>
          <a:p>
            <a:r>
              <a:rPr lang="es-BO" sz="4800" dirty="0">
                <a:latin typeface="Arial" panose="020B0604020202020204" pitchFamily="34" charset="0"/>
                <a:cs typeface="Arial" panose="020B0604020202020204" pitchFamily="34" charset="0"/>
              </a:rPr>
              <a:t>(Rutina de Atención a Interrupción)</a:t>
            </a:r>
          </a:p>
          <a:p>
            <a:r>
              <a:rPr lang="es-BO" sz="4800" dirty="0">
                <a:latin typeface="Arial" panose="020B0604020202020204" pitchFamily="34" charset="0"/>
                <a:cs typeface="Arial" panose="020B0604020202020204" pitchFamily="34" charset="0"/>
              </a:rPr>
              <a:t>          │</a:t>
            </a:r>
          </a:p>
          <a:p>
            <a:r>
              <a:rPr lang="es-BO" sz="4800" dirty="0">
                <a:latin typeface="Arial" panose="020B0604020202020204" pitchFamily="34" charset="0"/>
                <a:cs typeface="Arial" panose="020B0604020202020204" pitchFamily="34" charset="0"/>
              </a:rPr>
              <a:t>          │ Bus de Datos</a:t>
            </a:r>
          </a:p>
          <a:p>
            <a:r>
              <a:rPr lang="es-BO" sz="4800" dirty="0">
                <a:latin typeface="Arial" panose="020B0604020202020204" pitchFamily="34" charset="0"/>
                <a:cs typeface="Arial" panose="020B0604020202020204" pitchFamily="34" charset="0"/>
              </a:rPr>
              <a:t>          ▼</a:t>
            </a:r>
          </a:p>
          <a:p>
            <a:r>
              <a:rPr lang="es-BO" sz="4800" dirty="0">
                <a:latin typeface="Arial" panose="020B0604020202020204" pitchFamily="34" charset="0"/>
                <a:cs typeface="Arial" panose="020B0604020202020204" pitchFamily="34" charset="0"/>
              </a:rPr>
              <a:t>   (Memoria / Buffer Temporal)</a:t>
            </a:r>
          </a:p>
          <a:p>
            <a:r>
              <a:rPr lang="es-BO" sz="4800" dirty="0">
                <a:latin typeface="Arial" panose="020B0604020202020204" pitchFamily="34" charset="0"/>
                <a:cs typeface="Arial" panose="020B0604020202020204" pitchFamily="34" charset="0"/>
              </a:rPr>
              <a:t>          │</a:t>
            </a:r>
          </a:p>
          <a:p>
            <a:r>
              <a:rPr lang="es-BO" sz="4800" dirty="0">
                <a:latin typeface="Arial" panose="020B0604020202020204" pitchFamily="34" charset="0"/>
                <a:cs typeface="Arial" panose="020B0604020202020204" pitchFamily="34" charset="0"/>
              </a:rPr>
              <a:t>          ▼</a:t>
            </a:r>
          </a:p>
          <a:p>
            <a:r>
              <a:rPr lang="es-BO" sz="4800" dirty="0">
                <a:latin typeface="Arial" panose="020B0604020202020204" pitchFamily="34" charset="0"/>
                <a:cs typeface="Arial" panose="020B0604020202020204" pitchFamily="34" charset="0"/>
              </a:rPr>
              <a:t>[ Respuesta al Dispositivo ]</a:t>
            </a:r>
          </a:p>
          <a:p>
            <a:endParaRPr lang="es-BO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BO" dirty="0" smtClean="0"/>
              <a:t>Consta de 7 partes principalmente:</a:t>
            </a:r>
          </a:p>
          <a:p>
            <a:pPr marL="342900" indent="-342900">
              <a:buAutoNum type="arabicPeriod"/>
            </a:pPr>
            <a:r>
              <a:rPr lang="es-BO" b="1" dirty="0" smtClean="0"/>
              <a:t>Solicitud </a:t>
            </a:r>
          </a:p>
          <a:p>
            <a:pPr marL="342900" indent="-342900">
              <a:buAutoNum type="arabicPeriod"/>
            </a:pPr>
            <a:r>
              <a:rPr lang="es-BO" b="1" dirty="0" smtClean="0"/>
              <a:t>Transferencia de paquete de datos</a:t>
            </a:r>
          </a:p>
          <a:p>
            <a:pPr marL="342900" indent="-342900">
              <a:buAutoNum type="arabicPeriod"/>
            </a:pPr>
            <a:r>
              <a:rPr lang="es-BO" b="1" dirty="0" smtClean="0"/>
              <a:t>Interrupción por el evento</a:t>
            </a:r>
          </a:p>
          <a:p>
            <a:pPr marL="342900" indent="-342900">
              <a:buAutoNum type="arabicPeriod"/>
            </a:pPr>
            <a:r>
              <a:rPr lang="es-BO" b="1" dirty="0" smtClean="0"/>
              <a:t>Tratamiento para la interrupción</a:t>
            </a:r>
          </a:p>
          <a:p>
            <a:pPr marL="342900" indent="-342900">
              <a:buAutoNum type="arabicPeriod"/>
            </a:pPr>
            <a:r>
              <a:rPr lang="es-BO" b="1" dirty="0" smtClean="0"/>
              <a:t>Respuesta</a:t>
            </a:r>
          </a:p>
          <a:p>
            <a:endParaRPr lang="es-BO" dirty="0" smtClean="0"/>
          </a:p>
          <a:p>
            <a:pPr marL="342900" indent="-342900">
              <a:buAutoNum type="arabicPeriod"/>
            </a:pPr>
            <a:endParaRPr lang="es-BO" dirty="0" smtClean="0"/>
          </a:p>
        </p:txBody>
      </p:sp>
    </p:spTree>
    <p:extLst>
      <p:ext uri="{BB962C8B-B14F-4D97-AF65-F5344CB8AC3E}">
        <p14:creationId xmlns:p14="http://schemas.microsoft.com/office/powerpoint/2010/main" val="7432470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Flujo típico de un dispositivo de salida</a:t>
            </a:r>
            <a:endParaRPr lang="es-B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165910" y="281785"/>
            <a:ext cx="4842588" cy="5923072"/>
          </a:xfrm>
        </p:spPr>
        <p:txBody>
          <a:bodyPr>
            <a:normAutofit lnSpcReduction="10000"/>
          </a:bodyPr>
          <a:lstStyle/>
          <a:p>
            <a:r>
              <a:rPr lang="es-BO" dirty="0">
                <a:latin typeface="Arial" panose="020B0604020202020204" pitchFamily="34" charset="0"/>
                <a:cs typeface="Arial" panose="020B0604020202020204" pitchFamily="34" charset="0"/>
              </a:rPr>
              <a:t>[ CPU ]</a:t>
            </a:r>
          </a:p>
          <a:p>
            <a:r>
              <a:rPr lang="es-BO" dirty="0">
                <a:latin typeface="Arial" panose="020B0604020202020204" pitchFamily="34" charset="0"/>
                <a:cs typeface="Arial" panose="020B0604020202020204" pitchFamily="34" charset="0"/>
              </a:rPr>
              <a:t>   │</a:t>
            </a:r>
          </a:p>
          <a:p>
            <a:r>
              <a:rPr lang="es-BO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BO" dirty="0" smtClean="0">
                <a:latin typeface="Arial" panose="020B0604020202020204" pitchFamily="34" charset="0"/>
                <a:cs typeface="Arial" panose="020B0604020202020204" pitchFamily="34" charset="0"/>
              </a:rPr>
              <a:t>▼</a:t>
            </a:r>
            <a:endParaRPr lang="es-BO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BO" dirty="0">
                <a:latin typeface="Arial" panose="020B0604020202020204" pitchFamily="34" charset="0"/>
                <a:cs typeface="Arial" panose="020B0604020202020204" pitchFamily="34" charset="0"/>
              </a:rPr>
              <a:t>(Buffer de Salida)</a:t>
            </a:r>
          </a:p>
          <a:p>
            <a:r>
              <a:rPr lang="es-BO" dirty="0">
                <a:latin typeface="Arial" panose="020B0604020202020204" pitchFamily="34" charset="0"/>
                <a:cs typeface="Arial" panose="020B0604020202020204" pitchFamily="34" charset="0"/>
              </a:rPr>
              <a:t>   │</a:t>
            </a:r>
          </a:p>
          <a:p>
            <a:r>
              <a:rPr lang="es-BO" dirty="0">
                <a:latin typeface="Arial" panose="020B0604020202020204" pitchFamily="34" charset="0"/>
                <a:cs typeface="Arial" panose="020B0604020202020204" pitchFamily="34" charset="0"/>
              </a:rPr>
              <a:t>   │ Bus de Datos</a:t>
            </a:r>
          </a:p>
          <a:p>
            <a:r>
              <a:rPr lang="es-BO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BO" dirty="0" smtClean="0">
                <a:latin typeface="Arial" panose="020B0604020202020204" pitchFamily="34" charset="0"/>
                <a:cs typeface="Arial" panose="020B0604020202020204" pitchFamily="34" charset="0"/>
              </a:rPr>
              <a:t>▼</a:t>
            </a:r>
            <a:endParaRPr lang="es-BO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BO" dirty="0">
                <a:latin typeface="Arial" panose="020B0604020202020204" pitchFamily="34" charset="0"/>
                <a:cs typeface="Arial" panose="020B0604020202020204" pitchFamily="34" charset="0"/>
              </a:rPr>
              <a:t>[ Dispositivo de Salida ]</a:t>
            </a:r>
          </a:p>
          <a:p>
            <a:r>
              <a:rPr lang="es-BO" dirty="0">
                <a:latin typeface="Arial" panose="020B0604020202020204" pitchFamily="34" charset="0"/>
                <a:cs typeface="Arial" panose="020B0604020202020204" pitchFamily="34" charset="0"/>
              </a:rPr>
              <a:t>   │</a:t>
            </a:r>
          </a:p>
          <a:p>
            <a:r>
              <a:rPr lang="es-BO" dirty="0">
                <a:latin typeface="Arial" panose="020B0604020202020204" pitchFamily="34" charset="0"/>
                <a:cs typeface="Arial" panose="020B0604020202020204" pitchFamily="34" charset="0"/>
              </a:rPr>
              <a:t>   │ Bus de Control / Interrupción</a:t>
            </a:r>
          </a:p>
          <a:p>
            <a:r>
              <a:rPr lang="es-BO" dirty="0">
                <a:latin typeface="Arial" panose="020B0604020202020204" pitchFamily="34" charset="0"/>
                <a:cs typeface="Arial" panose="020B0604020202020204" pitchFamily="34" charset="0"/>
              </a:rPr>
              <a:t>   ▼</a:t>
            </a:r>
          </a:p>
          <a:p>
            <a:r>
              <a:rPr lang="es-BO" dirty="0" smtClean="0">
                <a:latin typeface="Arial" panose="020B0604020202020204" pitchFamily="34" charset="0"/>
                <a:cs typeface="Arial" panose="020B0604020202020204" pitchFamily="34" charset="0"/>
              </a:rPr>
              <a:t>[ </a:t>
            </a:r>
            <a:r>
              <a:rPr lang="es-BO" dirty="0">
                <a:latin typeface="Arial" panose="020B0604020202020204" pitchFamily="34" charset="0"/>
                <a:cs typeface="Arial" panose="020B0604020202020204" pitchFamily="34" charset="0"/>
              </a:rPr>
              <a:t>Usuario ]</a:t>
            </a:r>
          </a:p>
          <a:p>
            <a:endParaRPr lang="es-BO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BO" dirty="0" smtClean="0"/>
              <a:t>Consta de 7 partes principalmente:</a:t>
            </a:r>
          </a:p>
          <a:p>
            <a:pPr marL="342900" indent="-342900">
              <a:buAutoNum type="arabicPeriod"/>
            </a:pPr>
            <a:r>
              <a:rPr lang="es-BO" b="1" dirty="0" smtClean="0"/>
              <a:t>Ejecución de tarea por la CPU</a:t>
            </a:r>
          </a:p>
          <a:p>
            <a:pPr marL="342900" indent="-342900">
              <a:buAutoNum type="arabicPeriod"/>
            </a:pPr>
            <a:r>
              <a:rPr lang="es-BO" b="1" dirty="0" smtClean="0"/>
              <a:t>Transferencia al dispositivo</a:t>
            </a:r>
          </a:p>
          <a:p>
            <a:pPr marL="342900" indent="-342900">
              <a:buAutoNum type="arabicPeriod"/>
            </a:pPr>
            <a:r>
              <a:rPr lang="es-BO" b="1" dirty="0" smtClean="0"/>
              <a:t>Interrupción para transferencia</a:t>
            </a:r>
          </a:p>
          <a:p>
            <a:pPr marL="342900" indent="-342900">
              <a:buAutoNum type="arabicPeriod"/>
            </a:pPr>
            <a:r>
              <a:rPr lang="es-BO" b="1" dirty="0" smtClean="0"/>
              <a:t>Procesamiento de interrupción</a:t>
            </a:r>
          </a:p>
          <a:p>
            <a:pPr marL="342900" indent="-342900">
              <a:buAutoNum type="arabicPeriod"/>
            </a:pPr>
            <a:r>
              <a:rPr lang="es-BO" b="1" dirty="0" smtClean="0"/>
              <a:t>Repite</a:t>
            </a:r>
          </a:p>
        </p:txBody>
      </p:sp>
    </p:spTree>
    <p:extLst>
      <p:ext uri="{BB962C8B-B14F-4D97-AF65-F5344CB8AC3E}">
        <p14:creationId xmlns:p14="http://schemas.microsoft.com/office/powerpoint/2010/main" val="10572081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758392"/>
          </a:xfrm>
        </p:spPr>
        <p:txBody>
          <a:bodyPr/>
          <a:lstStyle/>
          <a:p>
            <a:r>
              <a:rPr lang="es-BO" dirty="0" smtClean="0"/>
              <a:t>INTERFACES DE SALIDA</a:t>
            </a:r>
            <a:endParaRPr lang="es-B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s-BO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Algunos ejemplos de interfaces de salida son: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BO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USB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BO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HDMI</a:t>
            </a:r>
            <a:endParaRPr lang="es-BO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1024127" y="129569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BO" dirty="0" smtClean="0">
                <a:latin typeface="Arial" panose="020B0604020202020204" pitchFamily="34" charset="0"/>
                <a:cs typeface="Arial" panose="020B0604020202020204" pitchFamily="34" charset="0"/>
              </a:rPr>
              <a:t>Son </a:t>
            </a:r>
            <a:r>
              <a:rPr lang="es-BO" dirty="0">
                <a:latin typeface="Arial" panose="020B0604020202020204" pitchFamily="34" charset="0"/>
                <a:cs typeface="Arial" panose="020B0604020202020204" pitchFamily="34" charset="0"/>
              </a:rPr>
              <a:t>los </a:t>
            </a:r>
            <a:r>
              <a:rPr lang="es-BO" dirty="0" smtClean="0">
                <a:latin typeface="Arial" panose="020B0604020202020204" pitchFamily="34" charset="0"/>
                <a:cs typeface="Arial" panose="020B0604020202020204" pitchFamily="34" charset="0"/>
              </a:rPr>
              <a:t>canales </a:t>
            </a:r>
            <a:r>
              <a:rPr lang="es-BO" b="1" dirty="0" smtClean="0">
                <a:latin typeface="Arial" panose="020B0604020202020204" pitchFamily="34" charset="0"/>
                <a:cs typeface="Arial" panose="020B0604020202020204" pitchFamily="34" charset="0"/>
              </a:rPr>
              <a:t>físicos</a:t>
            </a:r>
            <a:r>
              <a:rPr lang="es-BO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BO" dirty="0">
                <a:latin typeface="Arial" panose="020B0604020202020204" pitchFamily="34" charset="0"/>
                <a:cs typeface="Arial" panose="020B0604020202020204" pitchFamily="34" charset="0"/>
              </a:rPr>
              <a:t>que permiten que los datos procesados por un sistema sean “entregados” o mostrados.</a:t>
            </a:r>
          </a:p>
        </p:txBody>
      </p:sp>
      <p:pic>
        <p:nvPicPr>
          <p:cNvPr id="3076" name="Picture 4" descr="Puertos de Interfaz de la Computador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5813" y="2146041"/>
            <a:ext cx="5212702" cy="2932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3799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8366449" y="233209"/>
            <a:ext cx="350209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BO" dirty="0"/>
              <a:t>[ Usuario hace clic ]</a:t>
            </a:r>
          </a:p>
          <a:p>
            <a:r>
              <a:rPr lang="es-BO" dirty="0"/>
              <a:t>          │</a:t>
            </a:r>
          </a:p>
          <a:p>
            <a:r>
              <a:rPr lang="es-BO" dirty="0"/>
              <a:t>          ▼</a:t>
            </a:r>
          </a:p>
          <a:p>
            <a:r>
              <a:rPr lang="es-BO" dirty="0"/>
              <a:t>[ Dispositivo de Entrada (Mouse) ]</a:t>
            </a:r>
          </a:p>
          <a:p>
            <a:r>
              <a:rPr lang="es-BO" dirty="0"/>
              <a:t>          │</a:t>
            </a:r>
          </a:p>
          <a:p>
            <a:r>
              <a:rPr lang="es-BO" dirty="0"/>
              <a:t>          ▼</a:t>
            </a:r>
          </a:p>
          <a:p>
            <a:r>
              <a:rPr lang="es-BO" dirty="0"/>
              <a:t>     (Buffer de Entrada)</a:t>
            </a:r>
          </a:p>
          <a:p>
            <a:r>
              <a:rPr lang="es-BO" dirty="0"/>
              <a:t>          │</a:t>
            </a:r>
          </a:p>
          <a:p>
            <a:r>
              <a:rPr lang="es-BO" dirty="0"/>
              <a:t>          │ Bus de Datos</a:t>
            </a:r>
          </a:p>
          <a:p>
            <a:r>
              <a:rPr lang="es-BO" dirty="0"/>
              <a:t>          ▼</a:t>
            </a:r>
          </a:p>
          <a:p>
            <a:r>
              <a:rPr lang="es-BO" dirty="0"/>
              <a:t>         [ CPU ]</a:t>
            </a:r>
          </a:p>
          <a:p>
            <a:r>
              <a:rPr lang="es-BO" dirty="0"/>
              <a:t>          │</a:t>
            </a:r>
          </a:p>
          <a:p>
            <a:r>
              <a:rPr lang="es-BO" dirty="0"/>
              <a:t>          │ Bus de Datos</a:t>
            </a:r>
          </a:p>
          <a:p>
            <a:r>
              <a:rPr lang="es-BO" dirty="0"/>
              <a:t>          ▼</a:t>
            </a:r>
          </a:p>
          <a:p>
            <a:r>
              <a:rPr lang="es-BO" dirty="0"/>
              <a:t>     (Buffer de Salida)</a:t>
            </a:r>
          </a:p>
          <a:p>
            <a:r>
              <a:rPr lang="es-BO" dirty="0"/>
              <a:t>          │</a:t>
            </a:r>
          </a:p>
          <a:p>
            <a:r>
              <a:rPr lang="es-BO" dirty="0"/>
              <a:t>          │ Bus de Datos</a:t>
            </a:r>
          </a:p>
          <a:p>
            <a:r>
              <a:rPr lang="es-BO" dirty="0"/>
              <a:t>          ▼</a:t>
            </a:r>
          </a:p>
          <a:p>
            <a:r>
              <a:rPr lang="es-BO" dirty="0"/>
              <a:t>[ Dispositivo de Salida (Monitor) ]</a:t>
            </a:r>
          </a:p>
          <a:p>
            <a:r>
              <a:rPr lang="es-BO" dirty="0"/>
              <a:t>          │</a:t>
            </a:r>
          </a:p>
          <a:p>
            <a:r>
              <a:rPr lang="es-BO" dirty="0"/>
              <a:t>          ▼</a:t>
            </a:r>
          </a:p>
          <a:p>
            <a:r>
              <a:rPr lang="es-BO" dirty="0"/>
              <a:t>      [ Usuario ve la acción ]</a:t>
            </a:r>
          </a:p>
        </p:txBody>
      </p:sp>
      <p:sp>
        <p:nvSpPr>
          <p:cNvPr id="3" name="Rectángulo 2"/>
          <p:cNvSpPr/>
          <p:nvPr/>
        </p:nvSpPr>
        <p:spPr>
          <a:xfrm>
            <a:off x="289986" y="376502"/>
            <a:ext cx="557896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BO" sz="2400" b="1" dirty="0" smtClean="0">
                <a:latin typeface="Arial Black" panose="020B0A04020102020204" pitchFamily="34" charset="0"/>
                <a:cs typeface="Arial" panose="020B0604020202020204" pitchFamily="34" charset="0"/>
              </a:rPr>
              <a:t>Flujo general coordinado de ambos tipos de dispositivos</a:t>
            </a:r>
            <a:endParaRPr lang="es-BO" sz="24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350792"/>
            <a:ext cx="8366450" cy="534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5717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877671" y="2591297"/>
            <a:ext cx="9720072" cy="1499616"/>
          </a:xfrm>
        </p:spPr>
        <p:txBody>
          <a:bodyPr/>
          <a:lstStyle/>
          <a:p>
            <a:r>
              <a:rPr lang="es-BO" dirty="0" smtClean="0"/>
              <a:t>GRACIAS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3286716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318</TotalTime>
  <Words>1349</Words>
  <Application>Microsoft Office PowerPoint</Application>
  <PresentationFormat>Panorámica</PresentationFormat>
  <Paragraphs>172</Paragraphs>
  <Slides>20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7" baseType="lpstr">
      <vt:lpstr>Arial</vt:lpstr>
      <vt:lpstr>Arial Black</vt:lpstr>
      <vt:lpstr>Calibri</vt:lpstr>
      <vt:lpstr>Tw Cen MT</vt:lpstr>
      <vt:lpstr>Tw Cen MT Condensed</vt:lpstr>
      <vt:lpstr>Wingdings 3</vt:lpstr>
      <vt:lpstr>Integral</vt:lpstr>
      <vt:lpstr>PROYECTO FINAL DE ASIGNATURA DESARROLLO DE UN EMULADOR DE ORDENADOR CON UN MICROPROCESADOR BASADO EN LA ARQUITECTURA X86 </vt:lpstr>
      <vt:lpstr>Introducción a la arquitectura de computadoras</vt:lpstr>
      <vt:lpstr>Marco teórico: Conceptos clave Historia y Modelos de Arquitectura</vt:lpstr>
      <vt:lpstr>Modelo de Arquitectura de Von Neumman Características: Ventajas y desventajas</vt:lpstr>
      <vt:lpstr>Modelo de Arquitectura de Harvard Características: Ventajas y desventajas</vt:lpstr>
      <vt:lpstr>Comparativa entre ambos modelos</vt:lpstr>
      <vt:lpstr>Componentes comunes en arquitecturas X86 Evolución y funcionalidades</vt:lpstr>
      <vt:lpstr>MEMORIAS</vt:lpstr>
      <vt:lpstr>Buffers</vt:lpstr>
      <vt:lpstr>Presentación de PowerPoint</vt:lpstr>
      <vt:lpstr>Presentación de PowerPoint</vt:lpstr>
      <vt:lpstr>Presentación de PowerPoint</vt:lpstr>
      <vt:lpstr>DISPOSITIVOS DE ENTRADA Y SALIDA</vt:lpstr>
      <vt:lpstr>Tipos de dispositivos</vt:lpstr>
      <vt:lpstr>DRIVERS o controladores</vt:lpstr>
      <vt:lpstr>Flujo típico de un dispositivo de entrada</vt:lpstr>
      <vt:lpstr>Flujo típico de un dispositivo de salida</vt:lpstr>
      <vt:lpstr>INTERFACES DE SALIDA</vt:lpstr>
      <vt:lpstr>Presentación de PowerPoint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ARQUIETECTURA x86</dc:title>
  <dc:creator>STEVEN CUELLAR JUSTINIANO</dc:creator>
  <cp:lastModifiedBy>STEVEN CUELLAR JUSTINIANO</cp:lastModifiedBy>
  <cp:revision>23</cp:revision>
  <dcterms:created xsi:type="dcterms:W3CDTF">2025-10-08T11:43:28Z</dcterms:created>
  <dcterms:modified xsi:type="dcterms:W3CDTF">2025-12-16T05:56:09Z</dcterms:modified>
</cp:coreProperties>
</file>